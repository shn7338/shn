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da3864c254ad3" /><Relationship Type="http://schemas.openxmlformats.org/officeDocument/2006/relationships/extended-properties" Target="/docProps/app.xml" Id="Rd95815979f9b4348" /><Relationship Type="http://schemas.openxmlformats.org/officeDocument/2006/relationships/officeDocument" Target="/ppt/presentation.xml" Id="Rd55f73a11002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dfff607b040e1"/>
  </p:sldMasterIdLst>
  <p:notesMasterIdLst>
    <p:notesMasterId xmlns:r="http://schemas.openxmlformats.org/officeDocument/2006/relationships" r:id="R106944c455ab491c"/>
  </p:notesMasterIdLst>
  <p:sldIdLst>
    <p:sldId xmlns:r="http://schemas.openxmlformats.org/officeDocument/2006/relationships" id="256" r:id="R5b0d140874144d0d"/>
    <p:sldId xmlns:r="http://schemas.openxmlformats.org/officeDocument/2006/relationships" id="257" r:id="Rfb8233c7e4554b93"/>
    <p:sldId xmlns:r="http://schemas.openxmlformats.org/officeDocument/2006/relationships" id="258" r:id="R3579c552f3dc4e09"/>
    <p:sldId xmlns:r="http://schemas.openxmlformats.org/officeDocument/2006/relationships" id="259" r:id="R202baee703864fab"/>
    <p:sldId xmlns:r="http://schemas.openxmlformats.org/officeDocument/2006/relationships" id="260" r:id="Rb39303657818406e"/>
    <p:sldId xmlns:r="http://schemas.openxmlformats.org/officeDocument/2006/relationships" id="261" r:id="R781c1c4e9fe14ff9"/>
    <p:sldId xmlns:r="http://schemas.openxmlformats.org/officeDocument/2006/relationships" id="262" r:id="R50e3fddd3262424e"/>
    <p:sldId xmlns:r="http://schemas.openxmlformats.org/officeDocument/2006/relationships" id="263" r:id="Re544030aa0004fd3"/>
    <p:sldId xmlns:r="http://schemas.openxmlformats.org/officeDocument/2006/relationships" id="264" r:id="Raf8574ad14b44e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e68fb918a14814" /><Relationship Type="http://schemas.openxmlformats.org/officeDocument/2006/relationships/slideMaster" Target="/ppt/slideMasters/slideMaster1.xml" Id="Ra40dfff607b040e1" /><Relationship Type="http://schemas.openxmlformats.org/officeDocument/2006/relationships/notesMaster" Target="/ppt/notesMasters/notesMaster1.xml" Id="R106944c455ab491c" /><Relationship Type="http://schemas.openxmlformats.org/officeDocument/2006/relationships/presProps" Target="/ppt/presProps.xml" Id="R51529fc3740a46c3" /><Relationship Type="http://schemas.openxmlformats.org/officeDocument/2006/relationships/tableStyles" Target="/ppt/tableStyles.xml" Id="Raf548864e94b45d1" /><Relationship Type="http://schemas.openxmlformats.org/officeDocument/2006/relationships/slide" Target="/ppt/slides/slide1.xml" Id="R5b0d140874144d0d" /><Relationship Type="http://schemas.openxmlformats.org/officeDocument/2006/relationships/slide" Target="/ppt/slides/slide2.xml" Id="Rfb8233c7e4554b93" /><Relationship Type="http://schemas.openxmlformats.org/officeDocument/2006/relationships/slide" Target="/ppt/slides/slide3.xml" Id="R3579c552f3dc4e09" /><Relationship Type="http://schemas.openxmlformats.org/officeDocument/2006/relationships/slide" Target="/ppt/slides/slide4.xml" Id="R202baee703864fab" /><Relationship Type="http://schemas.openxmlformats.org/officeDocument/2006/relationships/slide" Target="/ppt/slides/slide5.xml" Id="Rb39303657818406e" /><Relationship Type="http://schemas.openxmlformats.org/officeDocument/2006/relationships/slide" Target="/ppt/slides/slide6.xml" Id="R781c1c4e9fe14ff9" /><Relationship Type="http://schemas.openxmlformats.org/officeDocument/2006/relationships/slide" Target="/ppt/slides/slide7.xml" Id="R50e3fddd3262424e" /><Relationship Type="http://schemas.openxmlformats.org/officeDocument/2006/relationships/slide" Target="/ppt/slides/slide8.xml" Id="Re544030aa0004fd3" /><Relationship Type="http://schemas.openxmlformats.org/officeDocument/2006/relationships/slide" Target="/ppt/slides/slide9.xml" Id="Raf8574ad14b4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c0868d2afe45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813720185492d" /><Relationship Type="http://schemas.openxmlformats.org/officeDocument/2006/relationships/notesMaster" Target="/ppt/notesMasters/notesMaster1.xml" Id="R74b1b1ee22d7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13a2e8449446c" /><Relationship Type="http://schemas.openxmlformats.org/officeDocument/2006/relationships/notesMaster" Target="/ppt/notesMasters/notesMaster1.xml" Id="R8fb17135e523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912b5739e4eed" /><Relationship Type="http://schemas.openxmlformats.org/officeDocument/2006/relationships/notesMaster" Target="/ppt/notesMasters/notesMaster1.xml" Id="Rb16a99d975e340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c5e7ece92d4ffd" /><Relationship Type="http://schemas.openxmlformats.org/officeDocument/2006/relationships/notesMaster" Target="/ppt/notesMasters/notesMaster1.xml" Id="R2fcf32637cf049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b7b171ff044be6" /><Relationship Type="http://schemas.openxmlformats.org/officeDocument/2006/relationships/notesMaster" Target="/ppt/notesMasters/notesMaster1.xml" Id="Rf2efcc754be3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6b60bc9c374f57" /><Relationship Type="http://schemas.openxmlformats.org/officeDocument/2006/relationships/notesMaster" Target="/ppt/notesMasters/notesMaster1.xml" Id="R5ceca10c02f1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9b1088b720485d" /><Relationship Type="http://schemas.openxmlformats.org/officeDocument/2006/relationships/notesMaster" Target="/ppt/notesMasters/notesMaster1.xml" Id="R2f721fb2ef7d42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75cc18f6df40f4" /><Relationship Type="http://schemas.openxmlformats.org/officeDocument/2006/relationships/notesMaster" Target="/ppt/notesMasters/notesMaster1.xml" Id="R602c30f6dd374a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d22fc908bd44f3" /><Relationship Type="http://schemas.openxmlformats.org/officeDocument/2006/relationships/notesMaster" Target="/ppt/notesMasters/notesMaster1.xml" Id="R367f71959d0d4a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开场先给一句话：V5 是整条信号地图重建流水线的最后一段，它把粗略的传播结果、稀疏实测值和基站潜在参数融合成最终方向性信号图。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C:/Users/pc/Documents/大创/projects/irt_label_pipeline/config_stage2b_multiscale_adapter_scale4_v5.json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强调稀疏到稠密的变化：输入只有 100 个测量位置，输出覆盖 128×128 网格。未测区域必须靠模型结合环境结构和传播先验进行推断。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C:/Users/pc/Documents/大创/projects/irt_label_pipeline/stage2b_dataset.py</a:t>
            </a:r>
          </a:p>
          <a:p xmlns:a="http://schemas.openxmlformats.org/drawingml/2006/main">
            <a:r>
              <a:t>- D:/桌面/dac/experiments/bs_inversion_scale4_stage2b_multiscale_adapter_v5_test_bins.json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按从左到右的顺序讲。参数估计器和 Stage1/Stage2A 都被冻结，V5 接收它们的输出。Stage1 根据估计基站位置构造距离与位置编码；Stage2A 产生各向同性修正图；V5 再生成最终方向性地图。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C:/Users/pc/Documents/大创/projects/irt_label_pipeline/finetune_pilot_stage2b.py</a:t>
            </a:r>
          </a:p>
          <a:p xmlns:a="http://schemas.openxmlformats.org/drawingml/2006/main">
            <a:r>
              <a:t>- C:/Users/pc/Documents/大创/projects/irt_label_pipeline/evaluate_pilot_oracle_pipeline.py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空间适配器在编码器 5 个尺度和解码器 4 个尺度注入位置概率、扇区增益先验和估计器辅助图。FiLM 使用置信度、有效功率和方位角正余弦，对瓶颈与各解码层进行逐通道缩放和平移。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C:/Users/pc/Documents/大创/projects/irt_label_pipeline/stage2_models.py</a:t>
            </a:r>
          </a:p>
          <a:p xmlns:a="http://schemas.openxmlformats.org/drawingml/2006/main">
            <a:r>
              <a:t>- C:/Users/pc/Documents/大创/projects/irt_label_pipeline/config_stage2b_multiscale_adapter_scale4_v5.json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这一页用于解释模型没有偷看真实基站参数。推理阶段外部输入仍然只有建筑高度、稀疏信号和掩码；其余 7 个通道由已训练好的基站参数估计器产生。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C:/Users/pc/Documents/大创/projects/irt_label_pipeline/latent_bs_fusion.py</a:t>
            </a:r>
          </a:p>
          <a:p xmlns:a="http://schemas.openxmlformats.org/drawingml/2006/main">
            <a:r>
              <a:t>- C:/Users/pc/Documents/大创/projects/irt_label_pipeline/finetune_pilot_stage2b.py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重点解释“安全升级”：零初始化保证 V5 在训练前不会破坏 V4。最佳模型出现在第一阶段第 7 轮；第二阶段放开末端解码器后验证误差反而回升，因此保存第 7 轮 checkpoint。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D:/桌面/dac/models/stage2b_multiscale_adapter_scale4_v5/training_summary.json</a:t>
            </a:r>
          </a:p>
          <a:p xmlns:a="http://schemas.openxmlformats.org/drawingml/2006/main">
            <a:r>
              <a:t>- D:/桌面/dac/models/stage2b_multiscale_adapter_scale4_v5/history.csv</a:t>
            </a:r>
          </a:p>
          <a:p xmlns:a="http://schemas.openxmlformats.org/drawingml/2006/main">
            <a:r>
              <a:t>- D:/桌面/dac/experiments/scale4_visual_comparison_v5/training_curve_v5.png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先解释白色区域为无效/建筑遮挡等不参与比较区域，再看 V4 和 V5 是否复现真值中的覆盖形状。最后看绝对误差图的亮区。强调代表性样本只用于理解，不替代全测试集指标。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D:/桌面/dac/experiments/scale4_visual_comparison_v5/representative_v4_vs_v5.png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绿色柱在所有区间都低于灰色柱，说明改进方向一致。总体 RMSE 从 6.9218 降到 6.8970 dB。这个结果是真实小幅改进，不应描述成显著跃升。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D:/桌面/dac/experiments/scale4_visual_comparison_v5/test_rmse_by_position_v4_vs_v5.png</a:t>
            </a:r>
          </a:p>
          <a:p xmlns:a="http://schemas.openxmlformats.org/drawingml/2006/main">
            <a:r>
              <a:t>- D:/桌面/dac/experiments/bs_inversion_scale4_stage2b_multiscale_adapter_v5_test_bins.json</a:t>
            </a:r>
          </a:p>
          <a:p xmlns:a="http://schemas.openxmlformats.org/drawingml/2006/main">
            <a:r>
              <a:t>- D:/桌面/dac/experiments/bs_inversion_scale4_stage2b_latent_fusion_v4_test_bins.json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收尾时把“效果”和“验收”分开说：V5 相对 V3/V4 都更好，但没有满足预先声明的数值门槛，因此评估脚本给出的 recommendation 是不晋级。可以用于机制展示、消融和后续研究，不宜包装为已验收的生产版本。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D:/桌面/dac/experiments/bs_inversion_scale4_stage2b_multiscale_adapter_v5_gate.json</a:t>
            </a:r>
          </a:p>
          <a:p xmlns:a="http://schemas.openxmlformats.org/drawingml/2006/main">
            <a:r>
              <a:t>- C:/Users/pc/Documents/大创/projects/irt_label_pipeline/config_stage2b_multiscale_adapter_scale4_v5.json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cfa6ea500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8c8f9f21c4c4a" /><Relationship Type="http://schemas.openxmlformats.org/officeDocument/2006/relationships/slideLayout" Target="/ppt/slideLayouts/slideLayout1.xml" Id="R97fe358018d1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fe358018d1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35f2f0b514c0b" /><Relationship Type="http://schemas.openxmlformats.org/officeDocument/2006/relationships/notesSlide" Target="/ppt/notesSlides/notesSlide1.xml" Id="Rfc18b325c00446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6a561828f411e" /><Relationship Type="http://schemas.openxmlformats.org/officeDocument/2006/relationships/notesSlide" Target="/ppt/notesSlides/notesSlide2.xml" Id="Rb100f5da503f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2470c1d3b40bc" /><Relationship Type="http://schemas.openxmlformats.org/officeDocument/2006/relationships/notesSlide" Target="/ppt/notesSlides/notesSlide3.xml" Id="R4601f711763e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90bfd2064348" /><Relationship Type="http://schemas.openxmlformats.org/officeDocument/2006/relationships/notesSlide" Target="/ppt/notesSlides/notesSlide4.xml" Id="R4d3e2fc57013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ff586a914215" /><Relationship Type="http://schemas.openxmlformats.org/officeDocument/2006/relationships/notesSlide" Target="/ppt/notesSlides/notesSlide5.xml" Id="R56b1bb58f1aa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cbd8894d643b3" /><Relationship Type="http://schemas.openxmlformats.org/officeDocument/2006/relationships/image" Target="/ppt/media/image.png" Id="Rfe5f4917369e4eac" /><Relationship Type="http://schemas.openxmlformats.org/officeDocument/2006/relationships/notesSlide" Target="/ppt/notesSlides/notesSlide6.xml" Id="R6376ad05c814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a7ea23fc745b0" /><Relationship Type="http://schemas.openxmlformats.org/officeDocument/2006/relationships/image" Target="/ppt/media/image2.png" Id="Ra318a63856414f6a" /><Relationship Type="http://schemas.openxmlformats.org/officeDocument/2006/relationships/notesSlide" Target="/ppt/notesSlides/notesSlide7.xml" Id="R2e4aaa95929a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627c80be24366" /><Relationship Type="http://schemas.openxmlformats.org/officeDocument/2006/relationships/image" Target="/ppt/media/image3.png" Id="Rc825b3f94cb24bdf" /><Relationship Type="http://schemas.openxmlformats.org/officeDocument/2006/relationships/notesSlide" Target="/ppt/notesSlides/notesSlide8.xml" Id="Rbc85982efd4c42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55f4fb434c68" /><Relationship Type="http://schemas.openxmlformats.org/officeDocument/2006/relationships/notesSlide" Target="/ppt/notesSlides/notesSlide9.xml" Id="R9faa02d5c31a4a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725EE61-187E-4628-9C99-CD52709A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STAGE2B · MULTISCALE LATENT ADAPTER · V5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AC05CB4-7F3D-461D-AFE8-A1A89A92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V5 模型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到底在做什么？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68C5D7A-5546-48F8-8B89-2BE0E6C7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用建筑环境和 100 个稀疏测点，重建一张 128 × 128 的方向性信号强度地图</a:t>
            </a:r>
          </a:p>
        </p:txBody>
      </p:sp>
      <p:sp>
        <p:nvSpPr>
          <p:cNvPr id="4" name="cover-tag">
            <a:extLst xmlns:a="http://schemas.openxmlformats.org/drawingml/2006/main">
              <a:ext uri="{FF2B5EF4-FFF2-40B4-BE49-F238E27FC236}">
                <a16:creationId xmlns:a16="http://schemas.microsoft.com/office/drawing/2014/main" id="{2492F924-F904-4F53-BCAA-3DB9B8D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工作原理 · 全流程 · 结果边界</a:t>
            </a:r>
          </a:p>
        </p:txBody>
      </p:sp>
    </p:spTree>
    <p:extLst>
      <p:ext uri="{BB962C8B-B14F-4D97-AF65-F5344CB8AC3E}">
        <p14:creationId xmlns:p14="http://schemas.microsoft.com/office/powerpoint/2010/main" val="1719318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0067062-EB91-44AB-B352-07B87FE6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它解决的是：从少量观测补全整张信号地图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A586248F-574B-4BE4-8E2C-06C8073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2-arrow-1">
            <a:extLst xmlns:a="http://schemas.openxmlformats.org/drawingml/2006/main">
              <a:ext uri="{FF2B5EF4-FFF2-40B4-BE49-F238E27FC236}">
                <a16:creationId xmlns:a16="http://schemas.microsoft.com/office/drawing/2014/main" id="{BD83DC56-5D8C-41B6-9A36-560018D3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828925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s2-arrow-2">
            <a:extLst xmlns:a="http://schemas.openxmlformats.org/drawingml/2006/main">
              <a:ext uri="{FF2B5EF4-FFF2-40B4-BE49-F238E27FC236}">
                <a16:creationId xmlns:a16="http://schemas.microsoft.com/office/drawing/2014/main" id="{C19500CB-8710-4851-A0F4-055BA1F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2828925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2-input">
            <a:extLst xmlns:a="http://schemas.openxmlformats.org/drawingml/2006/main">
              <a:ext uri="{FF2B5EF4-FFF2-40B4-BE49-F238E27FC236}">
                <a16:creationId xmlns:a16="http://schemas.microsoft.com/office/drawing/2014/main" id="{48BBF3B5-B733-4857-A2D8-87E71DE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67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建筑高度图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 个稀疏信号点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测点位置掩码</a:t>
            </a:r>
          </a:p>
        </p:txBody>
      </p:sp>
      <p:sp>
        <p:nvSpPr>
          <p:cNvPr id="6" name="s2-model">
            <a:extLst xmlns:a="http://schemas.openxmlformats.org/drawingml/2006/main">
              <a:ext uri="{FF2B5EF4-FFF2-40B4-BE49-F238E27FC236}">
                <a16:creationId xmlns:a16="http://schemas.microsoft.com/office/drawing/2014/main" id="{3681136E-1C09-4229-9335-714928B0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4099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V5 所在的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三阶段重建流水线</a:t>
            </a:r>
          </a:p>
        </p:txBody>
      </p:sp>
      <p:sp>
        <p:nvSpPr>
          <p:cNvPr id="7" name="s2-output">
            <a:extLst xmlns:a="http://schemas.openxmlformats.org/drawingml/2006/main">
              <a:ext uri="{FF2B5EF4-FFF2-40B4-BE49-F238E27FC236}">
                <a16:creationId xmlns:a16="http://schemas.microsoft.com/office/drawing/2014/main" id="{026D4F1E-547D-4241-8D31-7B993C2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8194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19050">
            <a:solidFill>
              <a:srgbClr val="2F9E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512 m × 512 m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128 × 128 像素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方向性信号强度图</a:t>
            </a:r>
          </a:p>
        </p:txBody>
      </p:sp>
      <p:sp>
        <p:nvSpPr>
          <p:cNvPr id="8" name="s2-100">
            <a:extLst xmlns:a="http://schemas.openxmlformats.org/drawingml/2006/main">
              <a:ext uri="{FF2B5EF4-FFF2-40B4-BE49-F238E27FC236}">
                <a16:creationId xmlns:a16="http://schemas.microsoft.com/office/drawing/2014/main" id="{A32E73B9-BB5C-4B73-A3E8-35512D0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9" name="s2-100-label">
            <a:extLst xmlns:a="http://schemas.openxmlformats.org/drawingml/2006/main">
              <a:ext uri="{FF2B5EF4-FFF2-40B4-BE49-F238E27FC236}">
                <a16:creationId xmlns:a16="http://schemas.microsoft.com/office/drawing/2014/main" id="{450043D8-27DD-4962-97E9-2A4B1E1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91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个测量位置</a:t>
            </a:r>
          </a:p>
        </p:txBody>
      </p:sp>
      <p:sp>
        <p:nvSpPr>
          <p:cNvPr id="10" name="s2-16384">
            <a:extLst xmlns:a="http://schemas.openxmlformats.org/drawingml/2006/main">
              <a:ext uri="{FF2B5EF4-FFF2-40B4-BE49-F238E27FC236}">
                <a16:creationId xmlns:a16="http://schemas.microsoft.com/office/drawing/2014/main" id="{2F1B6960-836C-48EE-B397-56EED22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43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9E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F9E6D"/>
                </a:solidFill>
                <a:latin typeface="Microsoft YaHei"/>
                <a:ea typeface="Microsoft YaHei"/>
                <a:cs typeface="Microsoft YaHei"/>
              </a:rPr>
              <a:t>16,384</a:t>
            </a:r>
          </a:p>
        </p:txBody>
      </p:sp>
      <p:sp>
        <p:nvSpPr>
          <p:cNvPr id="11" name="s2-16384-label">
            <a:extLst xmlns:a="http://schemas.openxmlformats.org/drawingml/2006/main">
              <a:ext uri="{FF2B5EF4-FFF2-40B4-BE49-F238E27FC236}">
                <a16:creationId xmlns:a16="http://schemas.microsoft.com/office/drawing/2014/main" id="{8B0F0A6D-1B2A-4B3A-AA5D-2923DBF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911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个网格位置</a:t>
            </a:r>
          </a:p>
        </p:txBody>
      </p:sp>
      <p:sp>
        <p:nvSpPr>
          <p:cNvPr id="12" name="s2-key">
            <a:extLst xmlns:a="http://schemas.openxmlformats.org/drawingml/2006/main">
              <a:ext uri="{FF2B5EF4-FFF2-40B4-BE49-F238E27FC236}">
                <a16:creationId xmlns:a16="http://schemas.microsoft.com/office/drawing/2014/main" id="{8ADD8FE1-F739-470A-904F-684693F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核心任务不是“记住测点”，而是根据建筑遮挡、传播规律和基站方向，把未测区域推断出来。</a:t>
            </a:r>
          </a:p>
        </p:txBody>
      </p:sp>
      <p:sp>
        <p:nvSpPr>
          <p:cNvPr id="13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ADEE23A8-9B80-45F0-9008-B1770D2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14" name="slide-2-footer-page">
            <a:extLst xmlns:a="http://schemas.openxmlformats.org/drawingml/2006/main">
              <a:ext uri="{FF2B5EF4-FFF2-40B4-BE49-F238E27FC236}">
                <a16:creationId xmlns:a16="http://schemas.microsoft.com/office/drawing/2014/main" id="{557F9F56-5FA5-4868-A256-7A67D90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2456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1EE362B-FF24-4FF3-AF34-161EF36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整条系统分成三段，V5 只负责最后一步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AD0A6A3-91EC-4632-835C-CA115B7B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3-arrow-1">
            <a:extLst xmlns:a="http://schemas.openxmlformats.org/drawingml/2006/main">
              <a:ext uri="{FF2B5EF4-FFF2-40B4-BE49-F238E27FC236}">
                <a16:creationId xmlns:a16="http://schemas.microsoft.com/office/drawing/2014/main" id="{486DB20D-6DE8-47A8-BB25-F36B394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29146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3-arrow-2">
            <a:extLst xmlns:a="http://schemas.openxmlformats.org/drawingml/2006/main">
              <a:ext uri="{FF2B5EF4-FFF2-40B4-BE49-F238E27FC236}">
                <a16:creationId xmlns:a16="http://schemas.microsoft.com/office/drawing/2014/main" id="{4BCCF820-3B0B-4CAF-9932-12B71959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29146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3-arrow-3">
            <a:extLst xmlns:a="http://schemas.openxmlformats.org/drawingml/2006/main">
              <a:ext uri="{FF2B5EF4-FFF2-40B4-BE49-F238E27FC236}">
                <a16:creationId xmlns:a16="http://schemas.microsoft.com/office/drawing/2014/main" id="{B1BEF673-9063-4EAB-B155-B5879B9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9146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3-arrow-4">
            <a:extLst xmlns:a="http://schemas.openxmlformats.org/drawingml/2006/main">
              <a:ext uri="{FF2B5EF4-FFF2-40B4-BE49-F238E27FC236}">
                <a16:creationId xmlns:a16="http://schemas.microsoft.com/office/drawing/2014/main" id="{F6203FEE-D530-4759-BFAE-98D9257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29146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3-arrow-5">
            <a:extLst xmlns:a="http://schemas.openxmlformats.org/drawingml/2006/main">
              <a:ext uri="{FF2B5EF4-FFF2-40B4-BE49-F238E27FC236}">
                <a16:creationId xmlns:a16="http://schemas.microsoft.com/office/drawing/2014/main" id="{90A5F69A-26B9-4E35-9D41-1DC612EE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29146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3-node-1">
            <a:extLst xmlns:a="http://schemas.openxmlformats.org/drawingml/2006/main">
              <a:ext uri="{FF2B5EF4-FFF2-40B4-BE49-F238E27FC236}">
                <a16:creationId xmlns:a16="http://schemas.microsoft.com/office/drawing/2014/main" id="{9AC768AD-CC2D-42A6-82DC-9EB8B5F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建筑高度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稀疏信号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测点掩码</a:t>
            </a:r>
          </a:p>
        </p:txBody>
      </p:sp>
      <p:sp>
        <p:nvSpPr>
          <p:cNvPr id="9" name="s3-node-2">
            <a:extLst xmlns:a="http://schemas.openxmlformats.org/drawingml/2006/main">
              <a:ext uri="{FF2B5EF4-FFF2-40B4-BE49-F238E27FC236}">
                <a16:creationId xmlns:a16="http://schemas.microsoft.com/office/drawing/2014/main" id="{8B6C0DFE-C406-4969-9829-E38DD2EF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基站估计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位置概率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功率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10" name="s3-node-3">
            <a:extLst xmlns:a="http://schemas.openxmlformats.org/drawingml/2006/main">
              <a:ext uri="{FF2B5EF4-FFF2-40B4-BE49-F238E27FC236}">
                <a16:creationId xmlns:a16="http://schemas.microsoft.com/office/drawing/2014/main" id="{A03B3BA9-6003-4652-9C25-04B36C8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粗略传播图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（各向同性）</a:t>
            </a:r>
          </a:p>
        </p:txBody>
      </p:sp>
      <p:sp>
        <p:nvSpPr>
          <p:cNvPr id="11" name="s3-node-4">
            <a:extLst xmlns:a="http://schemas.openxmlformats.org/drawingml/2006/main">
              <a:ext uri="{FF2B5EF4-FFF2-40B4-BE49-F238E27FC236}">
                <a16:creationId xmlns:a16="http://schemas.microsoft.com/office/drawing/2014/main" id="{7EAE154C-380A-4DB2-B36A-101EFE19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Stage 2A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各向同性图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残差修正</a:t>
            </a:r>
          </a:p>
        </p:txBody>
      </p:sp>
      <p:sp>
        <p:nvSpPr>
          <p:cNvPr id="12" name="s3-node-5">
            <a:extLst xmlns:a="http://schemas.openxmlformats.org/drawingml/2006/main">
              <a:ext uri="{FF2B5EF4-FFF2-40B4-BE49-F238E27FC236}">
                <a16:creationId xmlns:a16="http://schemas.microsoft.com/office/drawing/2014/main" id="{CB853ED7-D056-40A0-9050-43247A8B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Stage 2B · V5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位置先验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方向修正</a:t>
            </a:r>
          </a:p>
        </p:txBody>
      </p:sp>
      <p:sp>
        <p:nvSpPr>
          <p:cNvPr id="13" name="s3-node-6">
            <a:extLst xmlns:a="http://schemas.openxmlformats.org/drawingml/2006/main">
              <a:ext uri="{FF2B5EF4-FFF2-40B4-BE49-F238E27FC236}">
                <a16:creationId xmlns:a16="http://schemas.microsoft.com/office/drawing/2014/main" id="{BD7E158A-26BA-4217-9CE2-DBFD3AE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38350"/>
            <a:ext cx="1600200" cy="2095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方向性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信号地图</a:t>
            </a:r>
          </a:p>
        </p:txBody>
      </p:sp>
      <p:sp>
        <p:nvSpPr>
          <p:cNvPr id="14" name="s3-bottom-message">
            <a:extLst xmlns:a="http://schemas.openxmlformats.org/drawingml/2006/main">
              <a:ext uri="{FF2B5EF4-FFF2-40B4-BE49-F238E27FC236}">
                <a16:creationId xmlns:a16="http://schemas.microsoft.com/office/drawing/2014/main" id="{26C98C4E-49AE-4897-804B-F6F791C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839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V5 不直接猜整张图：它继承 Stage 1/2A 的传播底图，再用基站位置、功率和方向把结果“定向化”。</a:t>
            </a:r>
          </a:p>
        </p:txBody>
      </p:sp>
      <p:sp>
        <p:nvSpPr>
          <p:cNvPr id="15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9BFB1025-A8ED-43FD-8599-AB1F277E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16" name="slide-3-footer-page">
            <a:extLst xmlns:a="http://schemas.openxmlformats.org/drawingml/2006/main">
              <a:ext uri="{FF2B5EF4-FFF2-40B4-BE49-F238E27FC236}">
                <a16:creationId xmlns:a16="http://schemas.microsoft.com/office/drawing/2014/main" id="{4DA5B379-580D-4D58-80CE-B7BA556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6251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B6D291A-5BFE-41E4-A5A5-E6E86C11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V5 的关键：在 V4 的 U-Net 骨架里加入两类“调节器”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239ECE9E-1AAD-4AE0-8B11-9EF8B2D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4-main-arrow-1">
            <a:extLst xmlns:a="http://schemas.openxmlformats.org/drawingml/2006/main">
              <a:ext uri="{FF2B5EF4-FFF2-40B4-BE49-F238E27FC236}">
                <a16:creationId xmlns:a16="http://schemas.microsoft.com/office/drawing/2014/main" id="{8E767366-CCFE-4EE0-A75B-4EF5338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31051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4-main-arrow-2">
            <a:extLst xmlns:a="http://schemas.openxmlformats.org/drawingml/2006/main">
              <a:ext uri="{FF2B5EF4-FFF2-40B4-BE49-F238E27FC236}">
                <a16:creationId xmlns:a16="http://schemas.microsoft.com/office/drawing/2014/main" id="{7169D14F-2F3C-41EB-8609-BBF4946C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1051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4-main-arrow-3">
            <a:extLst xmlns:a="http://schemas.openxmlformats.org/drawingml/2006/main">
              <a:ext uri="{FF2B5EF4-FFF2-40B4-BE49-F238E27FC236}">
                <a16:creationId xmlns:a16="http://schemas.microsoft.com/office/drawing/2014/main" id="{BE344413-AC31-4953-A4B3-C6E8630D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1051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4-main-arrow-4">
            <a:extLst xmlns:a="http://schemas.openxmlformats.org/drawingml/2006/main">
              <a:ext uri="{FF2B5EF4-FFF2-40B4-BE49-F238E27FC236}">
                <a16:creationId xmlns:a16="http://schemas.microsoft.com/office/drawing/2014/main" id="{DDC416A7-F058-4D72-95BA-7837A592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31051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s4-main-arrow-5">
            <a:extLst xmlns:a="http://schemas.openxmlformats.org/drawingml/2006/main">
              <a:ext uri="{FF2B5EF4-FFF2-40B4-BE49-F238E27FC236}">
                <a16:creationId xmlns:a16="http://schemas.microsoft.com/office/drawing/2014/main" id="{EA1DA1CB-D515-4059-8CC6-A5EBBE2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31051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4-spatial-up-1">
            <a:extLst xmlns:a="http://schemas.openxmlformats.org/drawingml/2006/main">
              <a:ext uri="{FF2B5EF4-FFF2-40B4-BE49-F238E27FC236}">
                <a16:creationId xmlns:a16="http://schemas.microsoft.com/office/drawing/2014/main" id="{8FEDC3F7-D09D-48E5-9E0D-1204B7D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857500" y="485775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s4-spatial-up-2">
            <a:extLst xmlns:a="http://schemas.openxmlformats.org/drawingml/2006/main">
              <a:ext uri="{FF2B5EF4-FFF2-40B4-BE49-F238E27FC236}">
                <a16:creationId xmlns:a16="http://schemas.microsoft.com/office/drawing/2014/main" id="{22AB1BA3-1569-4992-93DF-BA9309B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762500" y="485775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s4-spatial-up-3">
            <a:extLst xmlns:a="http://schemas.openxmlformats.org/drawingml/2006/main">
              <a:ext uri="{FF2B5EF4-FFF2-40B4-BE49-F238E27FC236}">
                <a16:creationId xmlns:a16="http://schemas.microsoft.com/office/drawing/2014/main" id="{EDB133A8-AA3D-4E00-B17B-002C8FA3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667500" y="485775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s4-spatial-up-4">
            <a:extLst xmlns:a="http://schemas.openxmlformats.org/drawingml/2006/main">
              <a:ext uri="{FF2B5EF4-FFF2-40B4-BE49-F238E27FC236}">
                <a16:creationId xmlns:a16="http://schemas.microsoft.com/office/drawing/2014/main" id="{450EA460-B98B-4C8E-BE3E-760CD30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72500" y="485775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s4-film-down-1">
            <a:extLst xmlns:a="http://schemas.openxmlformats.org/drawingml/2006/main">
              <a:ext uri="{FF2B5EF4-FFF2-40B4-BE49-F238E27FC236}">
                <a16:creationId xmlns:a16="http://schemas.microsoft.com/office/drawing/2014/main" id="{2B6166C3-E410-4081-BB47-1C0BD5DD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67500" y="1752600"/>
            <a:ext cx="4000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s4-film-down-2">
            <a:extLst xmlns:a="http://schemas.openxmlformats.org/drawingml/2006/main">
              <a:ext uri="{FF2B5EF4-FFF2-40B4-BE49-F238E27FC236}">
                <a16:creationId xmlns:a16="http://schemas.microsoft.com/office/drawing/2014/main" id="{A3845051-3B25-4E97-A287-032E678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1752600"/>
            <a:ext cx="4000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s4-film-down-3">
            <a:extLst xmlns:a="http://schemas.openxmlformats.org/drawingml/2006/main">
              <a:ext uri="{FF2B5EF4-FFF2-40B4-BE49-F238E27FC236}">
                <a16:creationId xmlns:a16="http://schemas.microsoft.com/office/drawing/2014/main" id="{F50B6983-B41F-43D3-8898-34F9871D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77500" y="1752600"/>
            <a:ext cx="4000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s4-main-1">
            <a:extLst xmlns:a="http://schemas.openxmlformats.org/drawingml/2006/main">
              <a:ext uri="{FF2B5EF4-FFF2-40B4-BE49-F238E27FC236}">
                <a16:creationId xmlns:a16="http://schemas.microsoft.com/office/drawing/2014/main" id="{C09261A5-6B9F-4F9F-822B-43005AA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通道输入</a:t>
            </a:r>
          </a:p>
        </p:txBody>
      </p:sp>
      <p:sp>
        <p:nvSpPr>
          <p:cNvPr id="16" name="s4-main-2">
            <a:extLst xmlns:a="http://schemas.openxmlformats.org/drawingml/2006/main">
              <a:ext uri="{FF2B5EF4-FFF2-40B4-BE49-F238E27FC236}">
                <a16:creationId xmlns:a16="http://schemas.microsoft.com/office/drawing/2014/main" id="{9C5996A3-33B6-4CA6-9737-44BD768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多尺度提取</a:t>
            </a:r>
          </a:p>
        </p:txBody>
      </p:sp>
      <p:sp>
        <p:nvSpPr>
          <p:cNvPr id="17" name="s4-main-3">
            <a:extLst xmlns:a="http://schemas.openxmlformats.org/drawingml/2006/main">
              <a:ext uri="{FF2B5EF4-FFF2-40B4-BE49-F238E27FC236}">
                <a16:creationId xmlns:a16="http://schemas.microsoft.com/office/drawing/2014/main" id="{279F44D6-BF79-47EA-96E4-80C2D39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深层语义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瓶颈</a:t>
            </a:r>
          </a:p>
        </p:txBody>
      </p:sp>
      <p:sp>
        <p:nvSpPr>
          <p:cNvPr id="18" name="s4-main-4">
            <a:extLst xmlns:a="http://schemas.openxmlformats.org/drawingml/2006/main">
              <a:ext uri="{FF2B5EF4-FFF2-40B4-BE49-F238E27FC236}">
                <a16:creationId xmlns:a16="http://schemas.microsoft.com/office/drawing/2014/main" id="{6B98AAED-0922-4C02-BEFE-D35C1A50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解码器 1–2</a:t>
            </a:r>
          </a:p>
        </p:txBody>
      </p:sp>
      <p:sp>
        <p:nvSpPr>
          <p:cNvPr id="19" name="s4-main-5">
            <a:extLst xmlns:a="http://schemas.openxmlformats.org/drawingml/2006/main">
              <a:ext uri="{FF2B5EF4-FFF2-40B4-BE49-F238E27FC236}">
                <a16:creationId xmlns:a16="http://schemas.microsoft.com/office/drawing/2014/main" id="{099AF5D1-D973-4314-BA40-3965EEF5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解码器 3–4</a:t>
            </a:r>
          </a:p>
        </p:txBody>
      </p:sp>
      <p:sp>
        <p:nvSpPr>
          <p:cNvPr id="20" name="s4-main-6">
            <a:extLst xmlns:a="http://schemas.openxmlformats.org/drawingml/2006/main">
              <a:ext uri="{FF2B5EF4-FFF2-40B4-BE49-F238E27FC236}">
                <a16:creationId xmlns:a16="http://schemas.microsoft.com/office/drawing/2014/main" id="{9555B226-8C2F-406D-9A25-64A47910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42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方向信号图</a:t>
            </a:r>
          </a:p>
        </p:txBody>
      </p:sp>
      <p:sp>
        <p:nvSpPr>
          <p:cNvPr id="21" name="s4-film-rail">
            <a:extLst xmlns:a="http://schemas.openxmlformats.org/drawingml/2006/main">
              <a:ext uri="{FF2B5EF4-FFF2-40B4-BE49-F238E27FC236}">
                <a16:creationId xmlns:a16="http://schemas.microsoft.com/office/drawing/2014/main" id="{D3C00A1B-B26B-4DEE-BE3F-22250E9D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276350"/>
            <a:ext cx="581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个标量特征  →  FiLM 动态缩放 / 平移</a:t>
            </a:r>
          </a:p>
        </p:txBody>
      </p:sp>
      <p:sp>
        <p:nvSpPr>
          <p:cNvPr id="22" name="s4-spatial-rail">
            <a:extLst xmlns:a="http://schemas.openxmlformats.org/drawingml/2006/main">
              <a:ext uri="{FF2B5EF4-FFF2-40B4-BE49-F238E27FC236}">
                <a16:creationId xmlns:a16="http://schemas.microsoft.com/office/drawing/2014/main" id="{FD58896A-AAE1-428B-AB44-88EE904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7524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张空间特征图  →  多尺度空间适配器</a:t>
            </a:r>
          </a:p>
        </p:txBody>
      </p:sp>
      <p:sp>
        <p:nvSpPr>
          <p:cNvPr id="23" name="s4-film-caption">
            <a:extLst xmlns:a="http://schemas.openxmlformats.org/drawingml/2006/main">
              <a:ext uri="{FF2B5EF4-FFF2-40B4-BE49-F238E27FC236}">
                <a16:creationId xmlns:a16="http://schemas.microsoft.com/office/drawing/2014/main" id="{0600EEF7-6BB0-4949-99B6-9464CE4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告诉网络：这次的基站功率和朝向是什么</a:t>
            </a:r>
          </a:p>
        </p:txBody>
      </p:sp>
      <p:sp>
        <p:nvSpPr>
          <p:cNvPr id="24" name="s4-spatial-caption">
            <a:extLst xmlns:a="http://schemas.openxmlformats.org/drawingml/2006/main">
              <a:ext uri="{FF2B5EF4-FFF2-40B4-BE49-F238E27FC236}">
                <a16:creationId xmlns:a16="http://schemas.microsoft.com/office/drawing/2014/main" id="{2F3C41E2-6D35-4610-8A89-889FAB2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告诉网络：应该在地图的哪些位置重点修正</a:t>
            </a:r>
          </a:p>
        </p:txBody>
      </p:sp>
      <p:sp>
        <p:nvSpPr>
          <p:cNvPr id="25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18D777CB-CF5E-4468-A2B3-8049D55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26" name="slide-4-footer-page">
            <a:extLst xmlns:a="http://schemas.openxmlformats.org/drawingml/2006/main">
              <a:ext uri="{FF2B5EF4-FFF2-40B4-BE49-F238E27FC236}">
                <a16:creationId xmlns:a16="http://schemas.microsoft.com/office/drawing/2014/main" id="{0CDA76FC-7012-48A7-8575-24AE44E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8042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0EBF77C-FFD4-433E-85A4-0D84EEF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个输入通道：4 个基础输入 + 7 个内部特征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56D3658-C23D-4EC7-9508-63DB30F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5-base">
            <a:extLst xmlns:a="http://schemas.openxmlformats.org/drawingml/2006/main">
              <a:ext uri="{FF2B5EF4-FFF2-40B4-BE49-F238E27FC236}">
                <a16:creationId xmlns:a16="http://schemas.microsoft.com/office/drawing/2014/main" id="{F128C6C4-3BAB-4027-B652-8DB0E7A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3048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个基础输入</a:t>
            </a:r>
          </a:p>
        </p:txBody>
      </p:sp>
      <p:sp>
        <p:nvSpPr>
          <p:cNvPr id="4" name="s5-base-list">
            <a:extLst xmlns:a="http://schemas.openxmlformats.org/drawingml/2006/main">
              <a:ext uri="{FF2B5EF4-FFF2-40B4-BE49-F238E27FC236}">
                <a16:creationId xmlns:a16="http://schemas.microsoft.com/office/drawing/2014/main" id="{244BEABC-E252-4734-87CB-79DD03E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建筑高度图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修正后的各向同性图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稀疏信号值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稀疏测点掩码</a:t>
            </a:r>
          </a:p>
        </p:txBody>
      </p:sp>
      <p:sp>
        <p:nvSpPr>
          <p:cNvPr id="5" name="s5-plus">
            <a:extLst xmlns:a="http://schemas.openxmlformats.org/drawingml/2006/main">
              <a:ext uri="{FF2B5EF4-FFF2-40B4-BE49-F238E27FC236}">
                <a16:creationId xmlns:a16="http://schemas.microsoft.com/office/drawing/2014/main" id="{F70D2259-7B94-4AA2-97FC-96A1E3AE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66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6" name="s5-spatial">
            <a:extLst xmlns:a="http://schemas.openxmlformats.org/drawingml/2006/main">
              <a:ext uri="{FF2B5EF4-FFF2-40B4-BE49-F238E27FC236}">
                <a16:creationId xmlns:a16="http://schemas.microsoft.com/office/drawing/2014/main" id="{1ABB8142-076B-4D82-BBDA-5B43A5B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62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张空间特征图</a:t>
            </a:r>
          </a:p>
        </p:txBody>
      </p:sp>
      <p:sp>
        <p:nvSpPr>
          <p:cNvPr id="7" name="s5-spatial-list">
            <a:extLst xmlns:a="http://schemas.openxmlformats.org/drawingml/2006/main">
              <a:ext uri="{FF2B5EF4-FFF2-40B4-BE49-F238E27FC236}">
                <a16:creationId xmlns:a16="http://schemas.microsoft.com/office/drawing/2014/main" id="{9E273413-E364-4CF3-A0F9-DFC216B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位置概率图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扇区增益先验图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估计器辅助信号图</a:t>
            </a:r>
          </a:p>
        </p:txBody>
      </p:sp>
      <p:sp>
        <p:nvSpPr>
          <p:cNvPr id="8" name="s5-scalar">
            <a:extLst xmlns:a="http://schemas.openxmlformats.org/drawingml/2006/main">
              <a:ext uri="{FF2B5EF4-FFF2-40B4-BE49-F238E27FC236}">
                <a16:creationId xmlns:a16="http://schemas.microsoft.com/office/drawing/2014/main" id="{0D9E847E-6EA9-496D-85BE-60ECCFC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562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个标量特征</a:t>
            </a:r>
          </a:p>
        </p:txBody>
      </p:sp>
      <p:sp>
        <p:nvSpPr>
          <p:cNvPr id="9" name="s5-scalar-list">
            <a:extLst xmlns:a="http://schemas.openxmlformats.org/drawingml/2006/main">
              <a:ext uri="{FF2B5EF4-FFF2-40B4-BE49-F238E27FC236}">
                <a16:creationId xmlns:a16="http://schemas.microsoft.com/office/drawing/2014/main" id="{C93EE009-5C79-49EE-A680-D483D529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76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位置置信度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有效发射功率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方位角 sin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方位角 cos</a:t>
            </a:r>
          </a:p>
        </p:txBody>
      </p:sp>
      <p:sp>
        <p:nvSpPr>
          <p:cNvPr id="10" name="s5-clarity">
            <a:extLst xmlns:a="http://schemas.openxmlformats.org/drawingml/2006/main">
              <a:ext uri="{FF2B5EF4-FFF2-40B4-BE49-F238E27FC236}">
                <a16:creationId xmlns:a16="http://schemas.microsoft.com/office/drawing/2014/main" id="{E8EBAD8E-1629-4BB9-9978-176C79A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8839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9E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 7 个特征不是新增传感器数据，而是由“建筑 + 稀疏测点”内部估计出来的中间变量。</a:t>
            </a:r>
          </a:p>
        </p:txBody>
      </p:sp>
      <p:sp>
        <p:nvSpPr>
          <p:cNvPr id="11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648335AE-E17D-450F-8A27-0B94B244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12" name="slide-5-footer-page">
            <a:extLst xmlns:a="http://schemas.openxmlformats.org/drawingml/2006/main">
              <a:ext uri="{FF2B5EF4-FFF2-40B4-BE49-F238E27FC236}">
                <a16:creationId xmlns:a16="http://schemas.microsoft.com/office/drawing/2014/main" id="{7D3E4936-41F1-4516-BEFE-76C42D83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9631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668D855-B259-4DB3-A51B-3F20EF7B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两阶段训练：先只学适配器，再尝试微调末端解码器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CDEBB50E-22CA-45E4-8E7E-AD86BDF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f4917369e4eac"/>
          <a:stretch xmlns:a="http://schemas.openxmlformats.org/drawingml/2006/main"/>
        </p:blipFill>
        <p:spPr>
          <a:xfrm xmlns:a="http://schemas.openxmlformats.org/drawingml/2006/main">
            <a:off x="5219700" y="1726532"/>
            <a:ext cx="6572250" cy="3804987"/>
          </a:xfrm>
          <a:prstGeom xmlns:a="http://schemas.openxmlformats.org/drawingml/2006/main" prst="rect">
            <a:avLst/>
          </a:prstGeom>
        </p:spPr>
      </p:pic>
      <p:sp>
        <p:nvSpPr>
          <p:cNvPr id="4" name="s6-step0">
            <a:extLst xmlns:a="http://schemas.openxmlformats.org/drawingml/2006/main">
              <a:ext uri="{FF2B5EF4-FFF2-40B4-BE49-F238E27FC236}">
                <a16:creationId xmlns:a16="http://schemas.microsoft.com/office/drawing/2014/main" id="{95B76DAC-9B87-4FAE-B14B-3D33CB5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" name="s6-step0-title">
            <a:extLst xmlns:a="http://schemas.openxmlformats.org/drawingml/2006/main">
              <a:ext uri="{FF2B5EF4-FFF2-40B4-BE49-F238E27FC236}">
                <a16:creationId xmlns:a16="http://schemas.microsoft.com/office/drawing/2014/main" id="{8E6BE4DC-ADC6-4D09-B87D-AC7CD5D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零初始化</a:t>
            </a:r>
          </a:p>
        </p:txBody>
      </p:sp>
      <p:sp>
        <p:nvSpPr>
          <p:cNvPr id="6" name="s6-step0-body">
            <a:extLst xmlns:a="http://schemas.openxmlformats.org/drawingml/2006/main">
              <a:ext uri="{FF2B5EF4-FFF2-40B4-BE49-F238E27FC236}">
                <a16:creationId xmlns:a16="http://schemas.microsoft.com/office/drawing/2014/main" id="{99886201-F33A-4624-A235-598B3CA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训练开始时与 V4 输出完全一致</a:t>
            </a:r>
          </a:p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最大绝对差 = 0</a:t>
            </a:r>
          </a:p>
        </p:txBody>
      </p:sp>
      <p:sp>
        <p:nvSpPr>
          <p:cNvPr id="7" name="s6-step1">
            <a:extLst xmlns:a="http://schemas.openxmlformats.org/drawingml/2006/main">
              <a:ext uri="{FF2B5EF4-FFF2-40B4-BE49-F238E27FC236}">
                <a16:creationId xmlns:a16="http://schemas.microsoft.com/office/drawing/2014/main" id="{730FAA3D-DD66-4FC9-AA1C-82E6855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s6-step1-title">
            <a:extLst xmlns:a="http://schemas.openxmlformats.org/drawingml/2006/main">
              <a:ext uri="{FF2B5EF4-FFF2-40B4-BE49-F238E27FC236}">
                <a16:creationId xmlns:a16="http://schemas.microsoft.com/office/drawing/2014/main" id="{0E52DE25-2BBA-4D0F-8A30-B078B0A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Epoch 1–7 · Adapter</a:t>
            </a:r>
          </a:p>
        </p:txBody>
      </p:sp>
      <p:sp>
        <p:nvSpPr>
          <p:cNvPr id="9" name="s6-step1-body">
            <a:extLst xmlns:a="http://schemas.openxmlformats.org/drawingml/2006/main">
              <a:ext uri="{FF2B5EF4-FFF2-40B4-BE49-F238E27FC236}">
                <a16:creationId xmlns:a16="http://schemas.microsoft.com/office/drawing/2014/main" id="{DE8E1F9A-B438-419B-8423-4E33057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冻结 V4 骨架，只训练空间适配器与 FiLM</a:t>
            </a:r>
          </a:p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最佳验证 RMSE：6.812 dB</a:t>
            </a:r>
          </a:p>
        </p:txBody>
      </p:sp>
      <p:sp>
        <p:nvSpPr>
          <p:cNvPr id="10" name="s6-step2">
            <a:extLst xmlns:a="http://schemas.openxmlformats.org/drawingml/2006/main">
              <a:ext uri="{FF2B5EF4-FFF2-40B4-BE49-F238E27FC236}">
                <a16:creationId xmlns:a16="http://schemas.microsoft.com/office/drawing/2014/main" id="{563F0325-A2E2-4054-BE6F-B65388CC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s6-step2-title">
            <a:extLst xmlns:a="http://schemas.openxmlformats.org/drawingml/2006/main">
              <a:ext uri="{FF2B5EF4-FFF2-40B4-BE49-F238E27FC236}">
                <a16:creationId xmlns:a16="http://schemas.microsoft.com/office/drawing/2014/main" id="{74213BB6-CEFF-4592-B9F2-65F3626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Epoch 8–11 · Decoder</a:t>
            </a:r>
          </a:p>
        </p:txBody>
      </p:sp>
      <p:sp>
        <p:nvSpPr>
          <p:cNvPr id="12" name="s6-step2-body">
            <a:extLst xmlns:a="http://schemas.openxmlformats.org/drawingml/2006/main">
              <a:ext uri="{FF2B5EF4-FFF2-40B4-BE49-F238E27FC236}">
                <a16:creationId xmlns:a16="http://schemas.microsoft.com/office/drawing/2014/main" id="{F9A148A7-0513-4C6B-84D0-8FBCED4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3657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继续训练适配器，并解冻 up3 / up4 / 输出层</a:t>
            </a:r>
          </a:p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验证集未再改善，按耐心值提前停止</a:t>
            </a:r>
          </a:p>
        </p:txBody>
      </p:sp>
      <p:sp>
        <p:nvSpPr>
          <p:cNvPr id="13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3A798195-BA30-4C71-AD66-44EA84C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14" name="slide-6-footer-page">
            <a:extLst xmlns:a="http://schemas.openxmlformats.org/drawingml/2006/main">
              <a:ext uri="{FF2B5EF4-FFF2-40B4-BE49-F238E27FC236}">
                <a16:creationId xmlns:a16="http://schemas.microsoft.com/office/drawing/2014/main" id="{C092E7B4-517D-4478-B861-AE90A0C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8408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91E4B74-1EB1-4C7C-B188-B6E2BF24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对比真值、V4 与 V5：主要空间结构基本一致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8029C04A-CCCE-4D58-8D9E-4204869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8a63856414f6a"/>
          <a:stretch xmlns:a="http://schemas.openxmlformats.org/drawingml/2006/main"/>
        </p:blipFill>
        <p:spPr>
          <a:xfrm xmlns:a="http://schemas.openxmlformats.org/drawingml/2006/main">
            <a:off x="781050" y="1410213"/>
            <a:ext cx="10629900" cy="3761349"/>
          </a:xfrm>
          <a:prstGeom xmlns:a="http://schemas.openxmlformats.org/drawingml/2006/main" prst="rect">
            <a:avLst/>
          </a:prstGeom>
        </p:spPr>
      </p:pic>
      <p:sp>
        <p:nvSpPr>
          <p:cNvPr id="4" name="s7-caption">
            <a:extLst xmlns:a="http://schemas.openxmlformats.org/drawingml/2006/main">
              <a:ext uri="{FF2B5EF4-FFF2-40B4-BE49-F238E27FC236}">
                <a16:creationId xmlns:a16="http://schemas.microsoft.com/office/drawing/2014/main" id="{57306304-4420-4B1E-90C9-B12F221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从左到右：真值 → V4 → V5。它们呈现的主要覆盖形状接近；定量结论仍以全测试集为准。</a:t>
            </a:r>
          </a:p>
        </p:txBody>
      </p:sp>
      <p:sp>
        <p:nvSpPr>
          <p:cNvPr id="5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CB2250AB-E529-4101-8F2D-B2D3118A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6" name="slide-7-footer-page">
            <a:extLst xmlns:a="http://schemas.openxmlformats.org/drawingml/2006/main">
              <a:ext uri="{FF2B5EF4-FFF2-40B4-BE49-F238E27FC236}">
                <a16:creationId xmlns:a16="http://schemas.microsoft.com/office/drawing/2014/main" id="{4C4A2AF5-2FE2-49AB-A757-31FFBE0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4811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6175EDD-F921-44D6-8541-713FE5EA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全测试集上，V5 在每个基站距离区间都略有改善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F70FC3EA-33E8-4754-9CBB-CC738FE4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5b3f94cb24bdf"/>
          <a:stretch xmlns:a="http://schemas.openxmlformats.org/drawingml/2006/main"/>
        </p:blipFill>
        <p:spPr>
          <a:xfrm xmlns:a="http://schemas.openxmlformats.org/drawingml/2006/main">
            <a:off x="361950" y="1560336"/>
            <a:ext cx="7810500" cy="4194528"/>
          </a:xfrm>
          <a:prstGeom xmlns:a="http://schemas.openxmlformats.org/drawingml/2006/main" prst="rect">
            <a:avLst/>
          </a:prstGeom>
        </p:spPr>
      </p:pic>
      <p:sp>
        <p:nvSpPr>
          <p:cNvPr id="4" name="s8-interpretation">
            <a:extLst xmlns:a="http://schemas.openxmlformats.org/drawingml/2006/main">
              <a:ext uri="{FF2B5EF4-FFF2-40B4-BE49-F238E27FC236}">
                <a16:creationId xmlns:a16="http://schemas.microsoft.com/office/drawing/2014/main" id="{762086CA-F051-4665-8B6E-EDB3C65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RMSE 越低越好。V5 的优势方向一致，但数值幅度很小。</a:t>
            </a:r>
          </a:p>
        </p:txBody>
      </p:sp>
      <p:sp>
        <p:nvSpPr>
          <p:cNvPr id="5" name="s8-stat1">
            <a:extLst xmlns:a="http://schemas.openxmlformats.org/drawingml/2006/main">
              <a:ext uri="{FF2B5EF4-FFF2-40B4-BE49-F238E27FC236}">
                <a16:creationId xmlns:a16="http://schemas.microsoft.com/office/drawing/2014/main" id="{951F1213-31D7-4269-BCDF-47A808A9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3200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6.922 → 6.897 dB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总体下降 0.025 dB</a:t>
            </a:r>
          </a:p>
        </p:txBody>
      </p:sp>
      <p:sp>
        <p:nvSpPr>
          <p:cNvPr id="6" name="s8-stat2">
            <a:extLst xmlns:a="http://schemas.openxmlformats.org/drawingml/2006/main">
              <a:ext uri="{FF2B5EF4-FFF2-40B4-BE49-F238E27FC236}">
                <a16:creationId xmlns:a16="http://schemas.microsoft.com/office/drawing/2014/main" id="{C47C1534-C17B-4C6A-856E-05B9B90F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320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1,024 个站点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4,096 个方向样本</a:t>
            </a:r>
          </a:p>
        </p:txBody>
      </p:sp>
      <p:sp>
        <p:nvSpPr>
          <p:cNvPr id="7" name="s8-footnote">
            <a:extLst xmlns:a="http://schemas.openxmlformats.org/drawingml/2006/main">
              <a:ext uri="{FF2B5EF4-FFF2-40B4-BE49-F238E27FC236}">
                <a16:creationId xmlns:a16="http://schemas.microsoft.com/office/drawing/2014/main" id="{92A9E2EE-7E06-4117-B46E-08B6CB0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测试时每个样本提供 100 个稀疏测点</a:t>
            </a:r>
          </a:p>
        </p:txBody>
      </p:sp>
      <p:sp>
        <p:nvSpPr>
          <p:cNvPr id="8" name="slide-8-footer-label">
            <a:extLst xmlns:a="http://schemas.openxmlformats.org/drawingml/2006/main">
              <a:ext uri="{FF2B5EF4-FFF2-40B4-BE49-F238E27FC236}">
                <a16:creationId xmlns:a16="http://schemas.microsoft.com/office/drawing/2014/main" id="{86BD034F-AC80-4FE0-9A29-E0E69B5F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</a:t>
            </a:r>
          </a:p>
        </p:txBody>
      </p:sp>
      <p:sp>
        <p:nvSpPr>
          <p:cNvPr id="9" name="slide-8-footer-page">
            <a:extLst xmlns:a="http://schemas.openxmlformats.org/drawingml/2006/main">
              <a:ext uri="{FF2B5EF4-FFF2-40B4-BE49-F238E27FC236}">
                <a16:creationId xmlns:a16="http://schemas.microsoft.com/office/drawing/2014/main" id="{8EB4708E-F7AD-436C-A4AF-0874C636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5805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34B3859-8D06-4FF6-953A-25757BF1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结论：V5 的机制有效，但还没有通过预设晋级门槛</a:t>
            </a:r>
          </a:p>
        </p:txBody>
      </p:sp>
      <p:sp>
        <p:nvSpPr>
          <p:cNvPr id="2" name="slide-9-title-rule">
            <a:extLst xmlns:a="http://schemas.openxmlformats.org/drawingml/2006/main">
              <a:ext uri="{FF2B5EF4-FFF2-40B4-BE49-F238E27FC236}">
                <a16:creationId xmlns:a16="http://schemas.microsoft.com/office/drawing/2014/main" id="{54349385-4F3B-4308-A2E4-EF275B1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9-left-head">
            <a:extLst xmlns:a="http://schemas.openxmlformats.org/drawingml/2006/main">
              <a:ext uri="{FF2B5EF4-FFF2-40B4-BE49-F238E27FC236}">
                <a16:creationId xmlns:a16="http://schemas.microsoft.com/office/drawing/2014/main" id="{8DF79F86-5B19-4214-809F-FCBF4D6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5181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19050">
            <a:solidFill>
              <a:srgbClr val="2F9E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已经做到</a:t>
            </a:r>
          </a:p>
        </p:txBody>
      </p:sp>
      <p:sp>
        <p:nvSpPr>
          <p:cNvPr id="4" name="s9-left-body">
            <a:extLst xmlns:a="http://schemas.openxmlformats.org/drawingml/2006/main">
              <a:ext uri="{FF2B5EF4-FFF2-40B4-BE49-F238E27FC236}">
                <a16:creationId xmlns:a16="http://schemas.microsoft.com/office/drawing/2014/main" id="{E38404AC-8FDF-4EC5-A078-512DD8A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476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✓ 在 V4 基础上安全增量训练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✓ 总体与各距离区间 RMSE 均更低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✓ 推理仍只依赖建筑与稀疏测点</a:t>
            </a:r>
          </a:p>
        </p:txBody>
      </p:sp>
      <p:sp>
        <p:nvSpPr>
          <p:cNvPr id="5" name="s9-right-head">
            <a:extLst xmlns:a="http://schemas.openxmlformats.org/drawingml/2006/main">
              <a:ext uri="{FF2B5EF4-FFF2-40B4-BE49-F238E27FC236}">
                <a16:creationId xmlns:a16="http://schemas.microsoft.com/office/drawing/2014/main" id="{41C69B51-5705-4094-BDE4-4BB00EBD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47800"/>
            <a:ext cx="5181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6E6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尚未达到</a:t>
            </a:r>
          </a:p>
        </p:txBody>
      </p:sp>
      <p:sp>
        <p:nvSpPr>
          <p:cNvPr id="6" name="s9-right-body">
            <a:extLst xmlns:a="http://schemas.openxmlformats.org/drawingml/2006/main">
              <a:ext uri="{FF2B5EF4-FFF2-40B4-BE49-F238E27FC236}">
                <a16:creationId xmlns:a16="http://schemas.microsoft.com/office/drawing/2014/main" id="{3459A272-F329-4DEA-ABBB-F2171AD4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45148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 RMSE：6.897 dB  &gt;  门槛 6.82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 V4 改善：0.0248 dB  &lt;  要求 0.03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远中心区：7.427 dB  &gt;  门槛 7.35 dB</a:t>
            </a:r>
          </a:p>
        </p:txBody>
      </p:sp>
      <p:sp>
        <p:nvSpPr>
          <p:cNvPr id="7" name="s9-close">
            <a:extLst xmlns:a="http://schemas.openxmlformats.org/drawingml/2006/main">
              <a:ext uri="{FF2B5EF4-FFF2-40B4-BE49-F238E27FC236}">
                <a16:creationId xmlns:a16="http://schemas.microsoft.com/office/drawing/2014/main" id="{0E3A60D1-9B56-45E9-A79C-8016FC9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82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展示时可以说：V5 证明了“多尺度适配器 + FiLM”能带来稳定小幅收益；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但若称为正式推荐模型，应明确标注它未通过项目预设 gate。</a:t>
            </a:r>
          </a:p>
        </p:txBody>
      </p:sp>
      <p:sp>
        <p:nvSpPr>
          <p:cNvPr id="8" name="slide-9-footer-label">
            <a:extLst xmlns:a="http://schemas.openxmlformats.org/drawingml/2006/main">
              <a:ext uri="{FF2B5EF4-FFF2-40B4-BE49-F238E27FC236}">
                <a16:creationId xmlns:a16="http://schemas.microsoft.com/office/drawing/2014/main" id="{41C47875-620D-47AF-9756-0CAC33B7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V5 MODEL EXPLAINER · EVIDENCE BOUNDARY</a:t>
            </a:r>
          </a:p>
        </p:txBody>
      </p:sp>
      <p:sp>
        <p:nvSpPr>
          <p:cNvPr id="9" name="slide-9-footer-page">
            <a:extLst xmlns:a="http://schemas.openxmlformats.org/drawingml/2006/main">
              <a:ext uri="{FF2B5EF4-FFF2-40B4-BE49-F238E27FC236}">
                <a16:creationId xmlns:a16="http://schemas.microsoft.com/office/drawing/2014/main" id="{3EB44529-C243-44E9-AF34-386BD59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7661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2026-08-27T15:35:22.2980000Z</dcterms:created>
  <dcterms:modified xsi:type="dcterms:W3CDTF">2026-08-27T15:35:22.2990000Z</dcterms:modified>
</coreProperties>
</file>